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41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1"/>
  </p:normalViewPr>
  <p:slideViewPr>
    <p:cSldViewPr snapToGrid="0">
      <p:cViewPr varScale="1">
        <p:scale>
          <a:sx n="93" d="100"/>
          <a:sy n="93" d="100"/>
        </p:scale>
        <p:origin x="19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2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8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18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32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07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48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3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9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87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24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61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9510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47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25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64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18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64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D9630A1-3594-5D4F-8160-BD315750B5B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2969766-1C64-1849-AB36-1ABE8B0DFC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19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42" r:id="rId1"/>
    <p:sldLayoutId id="2147484743" r:id="rId2"/>
    <p:sldLayoutId id="2147484744" r:id="rId3"/>
    <p:sldLayoutId id="2147484745" r:id="rId4"/>
    <p:sldLayoutId id="2147484746" r:id="rId5"/>
    <p:sldLayoutId id="2147484747" r:id="rId6"/>
    <p:sldLayoutId id="2147484748" r:id="rId7"/>
    <p:sldLayoutId id="2147484749" r:id="rId8"/>
    <p:sldLayoutId id="2147484750" r:id="rId9"/>
    <p:sldLayoutId id="2147484751" r:id="rId10"/>
    <p:sldLayoutId id="2147484752" r:id="rId11"/>
    <p:sldLayoutId id="2147484753" r:id="rId12"/>
    <p:sldLayoutId id="2147484754" r:id="rId13"/>
    <p:sldLayoutId id="2147484755" r:id="rId14"/>
    <p:sldLayoutId id="2147484756" r:id="rId15"/>
    <p:sldLayoutId id="2147484757" r:id="rId16"/>
    <p:sldLayoutId id="214748475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093AB-B9F5-9B20-08FF-544BACC2BA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Ellipse Fitting Using LDLT Decomposition and Generalized Eigenvalue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12A32-7C90-E538-1A16-64A5994AA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Comparison between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err="1"/>
              <a:t>eig</a:t>
            </a:r>
            <a:r>
              <a:rPr lang="en-US" dirty="0"/>
              <a:t>(S,C) and custom LDLT based solver</a:t>
            </a:r>
          </a:p>
        </p:txBody>
      </p:sp>
    </p:spTree>
    <p:extLst>
      <p:ext uri="{BB962C8B-B14F-4D97-AF65-F5344CB8AC3E}">
        <p14:creationId xmlns:p14="http://schemas.microsoft.com/office/powerpoint/2010/main" val="1613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D3B42E-7B2D-8BDD-40DF-68195497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Ellipse Fitting Background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30E0C8-6E93-6EAD-8BB9-FE1FA0959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objective is to fit the ellipse to 2D data points using the general conic equation of the ellipse fitting.  </a:t>
            </a:r>
          </a:p>
          <a:p>
            <a:pPr marL="0" indent="0">
              <a:buNone/>
            </a:pPr>
            <a:r>
              <a:rPr lang="en-US" dirty="0"/>
              <a:t>				F(x, y) = ax^2 + </a:t>
            </a:r>
            <a:r>
              <a:rPr lang="en-US" dirty="0" err="1"/>
              <a:t>bxy</a:t>
            </a:r>
            <a:r>
              <a:rPr lang="en-US" dirty="0"/>
              <a:t> + cy^2 + dx + </a:t>
            </a:r>
            <a:r>
              <a:rPr lang="en-US" dirty="0" err="1"/>
              <a:t>ey</a:t>
            </a:r>
            <a:r>
              <a:rPr lang="en-US" dirty="0"/>
              <a:t> + f = 0</a:t>
            </a:r>
          </a:p>
          <a:p>
            <a:r>
              <a:rPr lang="en-US" dirty="0"/>
              <a:t>Where the parameters </a:t>
            </a:r>
            <a:r>
              <a:rPr lang="en-US" dirty="0" err="1"/>
              <a:t>a,b,c,d,ef</a:t>
            </a:r>
            <a:r>
              <a:rPr lang="en-US" dirty="0"/>
              <a:t> are linear. </a:t>
            </a:r>
          </a:p>
          <a:p>
            <a:r>
              <a:rPr lang="en-US" dirty="0"/>
              <a:t>For the conic to represent an ellipse, the parameters must satisfy the equation. </a:t>
            </a:r>
          </a:p>
          <a:p>
            <a:pPr marL="0" indent="0">
              <a:buNone/>
            </a:pPr>
            <a:r>
              <a:rPr lang="en-US" dirty="0"/>
              <a:t>						b^2 – 4 * a * c &lt;  0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68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37338-2513-B480-43F9-37132D23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Ellipse Fitting Background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0FB63-6D29-1999-F48B-5F3B5DC75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US" dirty="0"/>
              <a:t>To help solve the generalized eigenvalue problem:</a:t>
            </a:r>
          </a:p>
          <a:p>
            <a:pPr marL="457200" lvl="1" indent="0">
              <a:buNone/>
            </a:pPr>
            <a:r>
              <a:rPr lang="en-US" dirty="0"/>
              <a:t>							Sa = </a:t>
            </a:r>
            <a:r>
              <a:rPr lang="el-GR" dirty="0"/>
              <a:t>λ</a:t>
            </a:r>
            <a:r>
              <a:rPr lang="en-US" dirty="0"/>
              <a:t>Ca </a:t>
            </a:r>
          </a:p>
          <a:p>
            <a:pPr lvl="1"/>
            <a:r>
              <a:rPr lang="en-US" dirty="0"/>
              <a:t>The quadratic constraint is expressed as the matrix C: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Where S is the scatter matrix:</a:t>
            </a:r>
          </a:p>
          <a:p>
            <a:pPr marL="457200" lvl="1" indent="0">
              <a:buNone/>
            </a:pPr>
            <a:r>
              <a:rPr lang="en-US" dirty="0"/>
              <a:t>						S =  DT * D</a:t>
            </a:r>
          </a:p>
          <a:p>
            <a:pPr lvl="1"/>
            <a:r>
              <a:rPr lang="en-US" dirty="0"/>
              <a:t>In order to find the scatter matrix, the algebraic distance F(</a:t>
            </a:r>
            <a:r>
              <a:rPr lang="en-US" dirty="0" err="1"/>
              <a:t>x,y</a:t>
            </a:r>
            <a:r>
              <a:rPr lang="en-US" dirty="0"/>
              <a:t>) of any point (</a:t>
            </a:r>
            <a:r>
              <a:rPr lang="en-US" dirty="0" err="1"/>
              <a:t>x,y</a:t>
            </a:r>
            <a:r>
              <a:rPr lang="en-US" dirty="0"/>
              <a:t>) is minimized using least squares to give the design matrix D. : </a:t>
            </a:r>
          </a:p>
          <a:p>
            <a:pPr marL="457200" lvl="1" indent="0">
              <a:buNone/>
            </a:pPr>
            <a:r>
              <a:rPr lang="en-US" dirty="0"/>
              <a:t>						D = [x^2, </a:t>
            </a:r>
            <a:r>
              <a:rPr lang="en-US" dirty="0" err="1"/>
              <a:t>xy</a:t>
            </a:r>
            <a:r>
              <a:rPr lang="en-US" dirty="0"/>
              <a:t>, y^2,x , y, 1] </a:t>
            </a:r>
          </a:p>
        </p:txBody>
      </p:sp>
      <p:pic>
        <p:nvPicPr>
          <p:cNvPr id="5" name="Picture 4" descr="A number in a row&#10;&#10;Description automatically generated with medium confidence">
            <a:extLst>
              <a:ext uri="{FF2B5EF4-FFF2-40B4-BE49-F238E27FC236}">
                <a16:creationId xmlns:a16="http://schemas.microsoft.com/office/drawing/2014/main" id="{DA465B78-A3E2-5CAA-126A-649CB52C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2666999"/>
            <a:ext cx="2165040" cy="12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3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A8E3-2686-0AAF-A60A-E0A39B96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LDLT Decomposition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B61D2-E1BE-1F84-3C06-A6F0F22DF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 order to use the LDLT factorization to find the solution for the generalized eigenvalue problem, the constraint matrix C must be factorized: </a:t>
            </a:r>
          </a:p>
          <a:p>
            <a:pPr marL="0" indent="0">
              <a:buNone/>
            </a:pPr>
            <a:r>
              <a:rPr lang="en-US" dirty="0"/>
              <a:t>							C = LDLT</a:t>
            </a:r>
          </a:p>
          <a:p>
            <a:r>
              <a:rPr lang="en-US" dirty="0"/>
              <a:t>Which is reduced to as: </a:t>
            </a:r>
          </a:p>
          <a:p>
            <a:pPr marL="0" indent="0">
              <a:buNone/>
            </a:pPr>
            <a:r>
              <a:rPr lang="en-US" dirty="0"/>
              <a:t>						Sa = </a:t>
            </a:r>
            <a:r>
              <a:rPr lang="el-GR" dirty="0"/>
              <a:t>λ</a:t>
            </a:r>
            <a:r>
              <a:rPr lang="en-US" dirty="0"/>
              <a:t>LDLT a</a:t>
            </a:r>
          </a:p>
          <a:p>
            <a:r>
              <a:rPr lang="en-US" dirty="0"/>
              <a:t>The inverse of L is then multiplied by on both sides of the equation to help simplify the equation into the standard eigenvalue problem.</a:t>
            </a:r>
          </a:p>
          <a:p>
            <a:pPr marL="36900" indent="0">
              <a:buNone/>
            </a:pPr>
            <a:r>
              <a:rPr lang="en-US" dirty="0"/>
              <a:t>						 L^ −1* Sa = </a:t>
            </a:r>
            <a:r>
              <a:rPr lang="el-GR" dirty="0"/>
              <a:t>λ</a:t>
            </a:r>
            <a:r>
              <a:rPr lang="en-US" dirty="0"/>
              <a:t>DLT a</a:t>
            </a:r>
          </a:p>
          <a:p>
            <a:r>
              <a:rPr lang="en-US" dirty="0"/>
              <a:t>A new variable (z) is then substituted to recover the eigenvectors of variable (a) of the original problem.</a:t>
            </a:r>
          </a:p>
          <a:p>
            <a:pPr marL="0" indent="0">
              <a:buNone/>
            </a:pPr>
            <a:r>
              <a:rPr lang="en-US" dirty="0"/>
              <a:t>					 </a:t>
            </a:r>
            <a:r>
              <a:rPr lang="pl-PL" dirty="0"/>
              <a:t>z = L</a:t>
            </a:r>
            <a:r>
              <a:rPr lang="en-US" dirty="0"/>
              <a:t>^</a:t>
            </a:r>
            <a:r>
              <a:rPr lang="pl-PL" dirty="0"/>
              <a:t>T a =&gt; (L </a:t>
            </a:r>
            <a:r>
              <a:rPr lang="en-US" dirty="0"/>
              <a:t>^</a:t>
            </a:r>
            <a:r>
              <a:rPr lang="pl-PL" dirty="0"/>
              <a:t>−T )z = a =&gt; a = L</a:t>
            </a:r>
            <a:r>
              <a:rPr lang="en-US" dirty="0"/>
              <a:t>^</a:t>
            </a:r>
            <a:r>
              <a:rPr lang="pl-PL" dirty="0"/>
              <a:t> −T z </a:t>
            </a:r>
            <a:r>
              <a:rPr lang="en-US" dirty="0"/>
              <a:t>	</a:t>
            </a:r>
          </a:p>
          <a:p>
            <a:pPr indent="-342900"/>
            <a:r>
              <a:rPr lang="en-US" dirty="0"/>
              <a:t>Which will give the following equation: </a:t>
            </a:r>
            <a:br>
              <a:rPr lang="en-US" dirty="0"/>
            </a:br>
            <a:r>
              <a:rPr lang="en-US" dirty="0"/>
              <a:t>					</a:t>
            </a:r>
            <a:r>
              <a:rPr lang="pl-PL" dirty="0"/>
              <a:t> L</a:t>
            </a:r>
            <a:r>
              <a:rPr lang="en-US" dirty="0"/>
              <a:t>^</a:t>
            </a:r>
            <a:r>
              <a:rPr lang="pl-PL" dirty="0"/>
              <a:t> −1</a:t>
            </a:r>
            <a:r>
              <a:rPr lang="en-US" dirty="0"/>
              <a:t>(</a:t>
            </a:r>
            <a:r>
              <a:rPr lang="pl-PL" dirty="0"/>
              <a:t>SL</a:t>
            </a:r>
            <a:r>
              <a:rPr lang="en-US" dirty="0"/>
              <a:t>^</a:t>
            </a:r>
            <a:r>
              <a:rPr lang="pl-PL" dirty="0"/>
              <a:t>−T z</a:t>
            </a:r>
            <a:r>
              <a:rPr lang="en-US" dirty="0"/>
              <a:t>)</a:t>
            </a:r>
            <a:r>
              <a:rPr lang="pl-PL" dirty="0"/>
              <a:t> = λDz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01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EE0B-5B59-EDA9-F0BD-D6575A39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LDLT Decomposition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06574-EF0B-18C2-01CE-9E53FE652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equation is then normalized, which is done by multiplying both sides of the equation by the inverse of D.</a:t>
            </a:r>
          </a:p>
          <a:p>
            <a:pPr marL="36900" indent="0">
              <a:buNone/>
            </a:pPr>
            <a:r>
              <a:rPr lang="en-US" dirty="0"/>
              <a:t>							</a:t>
            </a:r>
            <a:r>
              <a:rPr lang="pl-PL" dirty="0"/>
              <a:t>(D</a:t>
            </a:r>
            <a:r>
              <a:rPr lang="en-US" dirty="0"/>
              <a:t>^</a:t>
            </a:r>
            <a:r>
              <a:rPr lang="pl-PL" dirty="0"/>
              <a:t>−1L</a:t>
            </a:r>
            <a:r>
              <a:rPr lang="en-US" dirty="0"/>
              <a:t>^</a:t>
            </a:r>
            <a:r>
              <a:rPr lang="pl-PL" dirty="0"/>
              <a:t> −1 )SL</a:t>
            </a:r>
            <a:r>
              <a:rPr lang="en-US" dirty="0"/>
              <a:t>^</a:t>
            </a:r>
            <a:r>
              <a:rPr lang="pl-PL" dirty="0"/>
              <a:t>−T z = λ(D</a:t>
            </a:r>
            <a:r>
              <a:rPr lang="en-US" dirty="0"/>
              <a:t>^</a:t>
            </a:r>
            <a:r>
              <a:rPr lang="pl-PL" dirty="0"/>
              <a:t>−1D)z</a:t>
            </a:r>
            <a:endParaRPr lang="en-US" dirty="0"/>
          </a:p>
          <a:p>
            <a:r>
              <a:rPr lang="en-US" dirty="0"/>
              <a:t>Which is reduced to: </a:t>
            </a:r>
          </a:p>
          <a:p>
            <a:pPr marL="36900" indent="0">
              <a:buNone/>
            </a:pPr>
            <a:r>
              <a:rPr lang="en-US" dirty="0"/>
              <a:t>							</a:t>
            </a:r>
            <a:r>
              <a:rPr lang="pl-PL" dirty="0"/>
              <a:t>(D</a:t>
            </a:r>
            <a:r>
              <a:rPr lang="en-US" dirty="0"/>
              <a:t>^</a:t>
            </a:r>
            <a:r>
              <a:rPr lang="pl-PL" dirty="0"/>
              <a:t>−1L</a:t>
            </a:r>
            <a:r>
              <a:rPr lang="en-US" dirty="0"/>
              <a:t>^</a:t>
            </a:r>
            <a:r>
              <a:rPr lang="pl-PL" dirty="0"/>
              <a:t> −1 )SL</a:t>
            </a:r>
            <a:r>
              <a:rPr lang="en-US" dirty="0"/>
              <a:t>^</a:t>
            </a:r>
            <a:r>
              <a:rPr lang="pl-PL" dirty="0"/>
              <a:t>−T z = λz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2FD6-99B6-8CDA-BCE8-62102C98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00" y="643467"/>
            <a:ext cx="3946393" cy="1956298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MATLAB IMPLEMENTATIONS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50DDAC2-FAFA-C0F2-E673-BB77B0EAA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9768" y="643467"/>
            <a:ext cx="6430560" cy="1956298"/>
          </a:xfrm>
        </p:spPr>
        <p:txBody>
          <a:bodyPr anchor="ctr">
            <a:normAutofit/>
          </a:bodyPr>
          <a:lstStyle/>
          <a:p>
            <a:pPr>
              <a:buClr>
                <a:srgbClr val="95C6ED"/>
              </a:buClr>
            </a:pPr>
            <a:endParaRPr lang="en-US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761C5CDD-0E76-23FD-6618-9FB95E5C4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8" y="2952377"/>
            <a:ext cx="10904438" cy="310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400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813</TotalTime>
  <Words>496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Wingdings 2</vt:lpstr>
      <vt:lpstr>Slate</vt:lpstr>
      <vt:lpstr>Ellipse Fitting Using LDLT Decomposition and Generalized Eigenvalue Analysis </vt:lpstr>
      <vt:lpstr>Ellipse Fitting Background </vt:lpstr>
      <vt:lpstr>Ellipse Fitting Background </vt:lpstr>
      <vt:lpstr>LDLT Decomposition </vt:lpstr>
      <vt:lpstr>LDLT Decomposition </vt:lpstr>
      <vt:lpstr>MATLAB IMPLEMENTATIONS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on TDA Project </dc:title>
  <dc:creator>Rolle, Charlton</dc:creator>
  <cp:lastModifiedBy>Rolle, Charlton</cp:lastModifiedBy>
  <cp:revision>4</cp:revision>
  <dcterms:created xsi:type="dcterms:W3CDTF">2025-11-06T16:56:10Z</dcterms:created>
  <dcterms:modified xsi:type="dcterms:W3CDTF">2025-11-13T21:07:42Z</dcterms:modified>
</cp:coreProperties>
</file>